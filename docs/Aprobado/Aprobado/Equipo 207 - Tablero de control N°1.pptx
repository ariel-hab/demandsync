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cYMAFU9RiGPSL7DOCckw5AwyZ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0D2145-886C-4A7D-9057-773D023CB0D4}">
  <a:tblStyle styleId="{950D2145-886C-4A7D-9057-773D023CB0D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6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10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4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4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14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" name="Google Shape;46;p14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311708" y="2060542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4800"/>
              <a:t>Tablero de Control Integrado</a:t>
            </a:r>
            <a:endParaRPr sz="4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lang="es-AR" sz="2000">
                <a:solidFill>
                  <a:schemeClr val="dk2"/>
                </a:solidFill>
              </a:rPr>
              <a:t>Informe de Seguimiento Bimestral del 02/06/2026</a:t>
            </a:r>
            <a:endParaRPr/>
          </a:p>
        </p:txBody>
      </p:sp>
      <p:sp>
        <p:nvSpPr>
          <p:cNvPr id="62" name="Google Shape;62;p1"/>
          <p:cNvSpPr txBox="1"/>
          <p:nvPr>
            <p:ph type="ctrTitle"/>
          </p:nvPr>
        </p:nvSpPr>
        <p:spPr>
          <a:xfrm>
            <a:off x="540275" y="6211500"/>
            <a:ext cx="76959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AR" sz="1200"/>
              <a:t>Ma. Ing. Gabriela Salem - UTN FRBA 2026</a:t>
            </a:r>
            <a:endParaRPr sz="1200"/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0500" y="1474525"/>
            <a:ext cx="1875450" cy="129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374848" y="188640"/>
            <a:ext cx="82296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B8CD"/>
              </a:buClr>
              <a:buSzPts val="2400"/>
              <a:buFont typeface="Arial"/>
              <a:buNone/>
            </a:pPr>
            <a:r>
              <a:rPr b="1" lang="es-A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Tablero de control integrado</a:t>
            </a:r>
            <a:endParaRPr sz="2400">
              <a:solidFill>
                <a:srgbClr val="000000"/>
              </a:solidFill>
            </a:endParaRPr>
          </a:p>
        </p:txBody>
      </p:sp>
      <p:graphicFrame>
        <p:nvGraphicFramePr>
          <p:cNvPr id="69" name="Google Shape;69;p2"/>
          <p:cNvGraphicFramePr/>
          <p:nvPr/>
        </p:nvGraphicFramePr>
        <p:xfrm>
          <a:off x="2411760" y="16543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{950D2145-886C-4A7D-9057-773D023CB0D4}</a:tableStyleId>
              </a:tblPr>
              <a:tblGrid>
                <a:gridCol w="1221375"/>
                <a:gridCol w="1279525"/>
                <a:gridCol w="1279525"/>
                <a:gridCol w="1046875"/>
                <a:gridCol w="12213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97D"/>
                        </a:buClr>
                        <a:buSzPts val="1050"/>
                        <a:buFont typeface="Arial"/>
                        <a:buNone/>
                      </a:pPr>
                      <a:r>
                        <a:rPr lang="es-AR" sz="1050">
                          <a:solidFill>
                            <a:srgbClr val="1F497D"/>
                          </a:solidFill>
                        </a:rPr>
                        <a:t>I. Feldman</a:t>
                      </a:r>
                      <a:endParaRPr sz="1400" u="none" cap="none" strike="noStrike"/>
                    </a:p>
                  </a:txBody>
                  <a:tcPr marT="36000" marB="36000" marR="0" marL="0" anchor="ctr" anchorCtr="1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97D"/>
                        </a:buClr>
                        <a:buSzPts val="1050"/>
                        <a:buFont typeface="Arial"/>
                        <a:buNone/>
                      </a:pPr>
                      <a:r>
                        <a:rPr lang="es-AR" sz="1050">
                          <a:solidFill>
                            <a:srgbClr val="1F497D"/>
                          </a:solidFill>
                        </a:rPr>
                        <a:t>M. Bucher</a:t>
                      </a:r>
                      <a:endParaRPr sz="1400" u="none" cap="none" strike="noStrike"/>
                    </a:p>
                  </a:txBody>
                  <a:tcPr marT="36000" marB="36000" marR="0" marL="0" anchor="ctr" anchorCtr="1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97D"/>
                        </a:buClr>
                        <a:buSzPts val="1050"/>
                        <a:buFont typeface="Arial"/>
                        <a:buNone/>
                      </a:pPr>
                      <a:r>
                        <a:rPr lang="es-AR" sz="1050">
                          <a:solidFill>
                            <a:srgbClr val="1F497D"/>
                          </a:solidFill>
                        </a:rPr>
                        <a:t>Planificación</a:t>
                      </a:r>
                      <a:r>
                        <a:rPr b="0" i="0" lang="es-AR" sz="1050" u="none" cap="none" strike="noStrik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10"/>
                        </a:spcBef>
                        <a:spcAft>
                          <a:spcPts val="0"/>
                        </a:spcAft>
                        <a:buClr>
                          <a:srgbClr val="1F497D"/>
                        </a:buClr>
                        <a:buSzPts val="1050"/>
                        <a:buFont typeface="Arial"/>
                        <a:buNone/>
                      </a:pPr>
                      <a:r>
                        <a:rPr lang="es-AR" sz="1050">
                          <a:solidFill>
                            <a:srgbClr val="1F497D"/>
                          </a:solidFill>
                        </a:rPr>
                        <a:t>100%</a:t>
                      </a:r>
                      <a:endParaRPr sz="1400" u="none" cap="none" strike="noStrike"/>
                    </a:p>
                  </a:txBody>
                  <a:tcPr marT="36000" marB="36000" marR="0" marL="0" anchor="ctr" anchorCtr="1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97D"/>
                        </a:buClr>
                        <a:buSzPts val="1050"/>
                        <a:buFont typeface="Arial"/>
                        <a:buNone/>
                      </a:pPr>
                      <a:r>
                        <a:rPr lang="es-AR" sz="1050">
                          <a:solidFill>
                            <a:srgbClr val="1F497D"/>
                          </a:solidFill>
                        </a:rPr>
                        <a:t>Análisis</a:t>
                      </a:r>
                      <a:endParaRPr sz="1050">
                        <a:solidFill>
                          <a:srgbClr val="1F497D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97D"/>
                        </a:buClr>
                        <a:buSzPts val="1050"/>
                        <a:buFont typeface="Arial"/>
                        <a:buNone/>
                      </a:pPr>
                      <a:r>
                        <a:rPr lang="es-AR" sz="1050">
                          <a:solidFill>
                            <a:srgbClr val="1F497D"/>
                          </a:solidFill>
                        </a:rPr>
                        <a:t>02/06/2026</a:t>
                      </a:r>
                      <a:endParaRPr sz="1050">
                        <a:solidFill>
                          <a:srgbClr val="1F497D"/>
                        </a:solidFill>
                      </a:endParaRPr>
                    </a:p>
                  </a:txBody>
                  <a:tcPr marT="36000" marB="36000" marR="0" marL="0" anchor="ctr" anchorCtr="1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97D"/>
                        </a:buClr>
                        <a:buSzPts val="1050"/>
                        <a:buFont typeface="Arial"/>
                        <a:buNone/>
                      </a:pPr>
                      <a:r>
                        <a:rPr lang="es-AR" sz="1050">
                          <a:solidFill>
                            <a:srgbClr val="1F497D"/>
                          </a:solidFill>
                        </a:rPr>
                        <a:t>24/11/2026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10"/>
                        </a:spcBef>
                        <a:spcAft>
                          <a:spcPts val="0"/>
                        </a:spcAft>
                        <a:buClr>
                          <a:srgbClr val="1F497D"/>
                        </a:buClr>
                        <a:buSzPts val="1050"/>
                        <a:buFont typeface="Arial"/>
                        <a:buNone/>
                      </a:pPr>
                      <a:r>
                        <a:rPr lang="es-AR" sz="1050">
                          <a:solidFill>
                            <a:srgbClr val="1F497D"/>
                          </a:solidFill>
                        </a:rPr>
                        <a:t>20 </a:t>
                      </a:r>
                      <a:r>
                        <a:rPr b="0" i="0" lang="es-AR" sz="1050" u="none" cap="none" strike="noStrike">
                          <a:solidFill>
                            <a:srgbClr val="1F497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 </a:t>
                      </a:r>
                      <a:endParaRPr sz="1400" u="none" cap="none" strike="noStrike"/>
                    </a:p>
                  </a:txBody>
                  <a:tcPr marT="36000" marB="36000" marR="0" marL="0" anchor="ctr" anchorCtr="1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Google Shape;70;p2"/>
          <p:cNvGraphicFramePr/>
          <p:nvPr/>
        </p:nvGraphicFramePr>
        <p:xfrm>
          <a:off x="2163760" y="10527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{950D2145-886C-4A7D-9057-773D023CB0D4}</a:tableStyleId>
              </a:tblPr>
              <a:tblGrid>
                <a:gridCol w="1389475"/>
                <a:gridCol w="1389475"/>
                <a:gridCol w="1326300"/>
                <a:gridCol w="1136800"/>
                <a:gridCol w="1284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A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RESPONSABLE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A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DOCENTES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A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SITUACIÓN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A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ACTUAL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A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PRÓXIMO 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A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HITO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s-A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OBJETIVO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71" name="Google Shape;71;p2"/>
          <p:cNvSpPr/>
          <p:nvPr/>
        </p:nvSpPr>
        <p:spPr>
          <a:xfrm>
            <a:off x="110412" y="1538991"/>
            <a:ext cx="8758500" cy="648000"/>
          </a:xfrm>
          <a:prstGeom prst="flowChartAlternateProcess">
            <a:avLst/>
          </a:prstGeom>
          <a:noFill/>
          <a:ln cap="flat" cmpd="sng" w="19050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D0F5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51520" y="1605256"/>
            <a:ext cx="2166937" cy="487367"/>
          </a:xfrm>
          <a:prstGeom prst="flowChartAlternateProcess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36000" lIns="45700" spcFirstLastPara="1" rIns="457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s-AR" sz="1500"/>
              <a:t>DemandSYNC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220525" y="6141325"/>
            <a:ext cx="25029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8375" y="210475"/>
            <a:ext cx="8572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5449" y="1583454"/>
            <a:ext cx="27305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179512" y="1022034"/>
            <a:ext cx="5328592" cy="2046926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79512" y="3377090"/>
            <a:ext cx="5328592" cy="228415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79512" y="5949280"/>
            <a:ext cx="5328592" cy="792088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630881" y="4144453"/>
            <a:ext cx="3325068" cy="115675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5630881" y="1022034"/>
            <a:ext cx="3325068" cy="283901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142875" y="161956"/>
            <a:ext cx="8878888" cy="59848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rgbClr val="134B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190500" y="229946"/>
            <a:ext cx="390525" cy="468054"/>
          </a:xfrm>
          <a:custGeom>
            <a:rect b="b" l="l" r="r" t="t"/>
            <a:pathLst>
              <a:path extrusionOk="0" h="363537" w="390525">
                <a:moveTo>
                  <a:pt x="60591" y="0"/>
                </a:moveTo>
                <a:lnTo>
                  <a:pt x="390525" y="0"/>
                </a:lnTo>
                <a:lnTo>
                  <a:pt x="390525" y="302946"/>
                </a:lnTo>
                <a:cubicBezTo>
                  <a:pt x="390525" y="336409"/>
                  <a:pt x="363397" y="363536"/>
                  <a:pt x="329934" y="363537"/>
                </a:cubicBezTo>
                <a:lnTo>
                  <a:pt x="0" y="363537"/>
                </a:lnTo>
                <a:lnTo>
                  <a:pt x="0" y="60591"/>
                </a:lnTo>
                <a:cubicBezTo>
                  <a:pt x="0" y="27127"/>
                  <a:pt x="27127" y="0"/>
                  <a:pt x="60590" y="0"/>
                </a:cubicBezTo>
                <a:close/>
              </a:path>
            </a:pathLst>
          </a:custGeom>
          <a:solidFill>
            <a:srgbClr val="F4CCCC"/>
          </a:solidFill>
          <a:ln cap="flat" cmpd="sng" w="9525">
            <a:solidFill>
              <a:srgbClr val="4A7EBB"/>
            </a:solidFill>
            <a:prstDash val="solid"/>
            <a:miter lim="8000"/>
            <a:headEnd len="sm" w="sm" type="none"/>
            <a:tailEnd len="sm" w="sm" type="none"/>
          </a:ln>
          <a:effectLst>
            <a:outerShdw rotWithShape="0" algn="r" dist="38100">
              <a:srgbClr val="808080">
                <a:alpha val="4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207</a:t>
            </a:r>
            <a:endParaRPr b="0" i="0" sz="1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35000" y="229946"/>
            <a:ext cx="3060700" cy="468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4A7EBB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r" dist="38100">
              <a:srgbClr val="808080">
                <a:alpha val="4156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AR" sz="1800"/>
              <a:t>DemandSYNC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662075" y="199657"/>
            <a:ext cx="1872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AR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Responsable de Proyecto:</a:t>
            </a:r>
            <a:br>
              <a:rPr b="1" i="0" lang="es-AR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674000" y="403550"/>
            <a:ext cx="20502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AR" sz="9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Docentes: </a:t>
            </a:r>
            <a:r>
              <a:rPr b="1" lang="es-AR" sz="900">
                <a:solidFill>
                  <a:srgbClr val="1F497D"/>
                </a:solidFill>
              </a:rPr>
              <a:t>M. Bucher</a:t>
            </a:r>
            <a:endParaRPr b="1" i="0" sz="9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7138988" y="117506"/>
            <a:ext cx="14652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AR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p3"/>
          <p:cNvCxnSpPr/>
          <p:nvPr/>
        </p:nvCxnSpPr>
        <p:spPr>
          <a:xfrm>
            <a:off x="7380312" y="161956"/>
            <a:ext cx="0" cy="601663"/>
          </a:xfrm>
          <a:prstGeom prst="straightConnector1">
            <a:avLst/>
          </a:prstGeom>
          <a:noFill/>
          <a:ln cap="flat" cmpd="sng" w="12700">
            <a:solidFill>
              <a:srgbClr val="134B7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3"/>
          <p:cNvCxnSpPr/>
          <p:nvPr/>
        </p:nvCxnSpPr>
        <p:spPr>
          <a:xfrm>
            <a:off x="8532813" y="161956"/>
            <a:ext cx="0" cy="601663"/>
          </a:xfrm>
          <a:prstGeom prst="straightConnector1">
            <a:avLst/>
          </a:prstGeom>
          <a:noFill/>
          <a:ln cap="flat" cmpd="sng" w="12700">
            <a:solidFill>
              <a:srgbClr val="134B7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3" name="Google Shape;93;p3"/>
          <p:cNvGrpSpPr/>
          <p:nvPr/>
        </p:nvGrpSpPr>
        <p:grpSpPr>
          <a:xfrm>
            <a:off x="150813" y="3161314"/>
            <a:ext cx="1584325" cy="217488"/>
            <a:chOff x="3809" y="2569"/>
            <a:chExt cx="998" cy="137"/>
          </a:xfrm>
        </p:grpSpPr>
        <p:sp>
          <p:nvSpPr>
            <p:cNvPr id="94" name="Google Shape;94;p3"/>
            <p:cNvSpPr/>
            <p:nvPr/>
          </p:nvSpPr>
          <p:spPr>
            <a:xfrm>
              <a:off x="3849" y="2569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solidFill>
              <a:srgbClr val="D2F705"/>
            </a:soli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3809" y="2587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gradFill>
              <a:gsLst>
                <a:gs pos="0">
                  <a:srgbClr val="333399"/>
                </a:gs>
                <a:gs pos="100000">
                  <a:srgbClr val="4070AA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-A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Avances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3"/>
          <p:cNvGrpSpPr/>
          <p:nvPr/>
        </p:nvGrpSpPr>
        <p:grpSpPr>
          <a:xfrm>
            <a:off x="179512" y="5733256"/>
            <a:ext cx="1756891" cy="234088"/>
            <a:chOff x="3809" y="2569"/>
            <a:chExt cx="998" cy="135"/>
          </a:xfrm>
        </p:grpSpPr>
        <p:sp>
          <p:nvSpPr>
            <p:cNvPr id="97" name="Google Shape;97;p3"/>
            <p:cNvSpPr/>
            <p:nvPr/>
          </p:nvSpPr>
          <p:spPr>
            <a:xfrm>
              <a:off x="3849" y="2569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solidFill>
              <a:srgbClr val="D2F705"/>
            </a:soli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3809" y="2587"/>
              <a:ext cx="971" cy="117"/>
            </a:xfrm>
            <a:prstGeom prst="wedgeRectCallout">
              <a:avLst>
                <a:gd fmla="val -20833" name="adj1"/>
                <a:gd fmla="val 79306" name="adj2"/>
              </a:avLst>
            </a:prstGeom>
            <a:gradFill>
              <a:gsLst>
                <a:gs pos="0">
                  <a:srgbClr val="333399"/>
                </a:gs>
                <a:gs pos="100000">
                  <a:srgbClr val="4070AA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-A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Decisiones Importantes</a:t>
              </a:r>
              <a:endParaRPr b="1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3"/>
          <p:cNvGrpSpPr/>
          <p:nvPr/>
        </p:nvGrpSpPr>
        <p:grpSpPr>
          <a:xfrm>
            <a:off x="5630881" y="3933056"/>
            <a:ext cx="1584325" cy="217487"/>
            <a:chOff x="3809" y="2569"/>
            <a:chExt cx="998" cy="137"/>
          </a:xfrm>
        </p:grpSpPr>
        <p:sp>
          <p:nvSpPr>
            <p:cNvPr id="100" name="Google Shape;100;p3"/>
            <p:cNvSpPr/>
            <p:nvPr/>
          </p:nvSpPr>
          <p:spPr>
            <a:xfrm>
              <a:off x="3849" y="2569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solidFill>
              <a:srgbClr val="D2F705"/>
            </a:soli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3809" y="2587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gradFill>
              <a:gsLst>
                <a:gs pos="0">
                  <a:srgbClr val="333399"/>
                </a:gs>
                <a:gs pos="100000">
                  <a:srgbClr val="4070AA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-A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Objetivo del Proyecto</a:t>
              </a:r>
              <a:endParaRPr b="1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3"/>
          <p:cNvGrpSpPr/>
          <p:nvPr/>
        </p:nvGrpSpPr>
        <p:grpSpPr>
          <a:xfrm>
            <a:off x="150813" y="800131"/>
            <a:ext cx="1584325" cy="217488"/>
            <a:chOff x="3809" y="2569"/>
            <a:chExt cx="998" cy="137"/>
          </a:xfrm>
        </p:grpSpPr>
        <p:sp>
          <p:nvSpPr>
            <p:cNvPr id="103" name="Google Shape;103;p3"/>
            <p:cNvSpPr/>
            <p:nvPr/>
          </p:nvSpPr>
          <p:spPr>
            <a:xfrm>
              <a:off x="3849" y="2569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solidFill>
              <a:srgbClr val="D2F705"/>
            </a:soli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3809" y="2587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gradFill>
              <a:gsLst>
                <a:gs pos="0">
                  <a:srgbClr val="333399"/>
                </a:gs>
                <a:gs pos="100000">
                  <a:srgbClr val="4070AA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-A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Plan de Trabajo</a:t>
              </a:r>
              <a:endParaRPr b="1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" name="Google Shape;105;p3"/>
          <p:cNvGrpSpPr/>
          <p:nvPr/>
        </p:nvGrpSpPr>
        <p:grpSpPr>
          <a:xfrm>
            <a:off x="5630881" y="800131"/>
            <a:ext cx="1584325" cy="217488"/>
            <a:chOff x="3809" y="2569"/>
            <a:chExt cx="998" cy="137"/>
          </a:xfrm>
        </p:grpSpPr>
        <p:sp>
          <p:nvSpPr>
            <p:cNvPr id="106" name="Google Shape;106;p3"/>
            <p:cNvSpPr/>
            <p:nvPr/>
          </p:nvSpPr>
          <p:spPr>
            <a:xfrm>
              <a:off x="3849" y="2569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solidFill>
              <a:srgbClr val="D2F705"/>
            </a:soli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3809" y="2587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gradFill>
              <a:gsLst>
                <a:gs pos="0">
                  <a:srgbClr val="333399"/>
                </a:gs>
                <a:gs pos="100000">
                  <a:srgbClr val="4070AA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-A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Puntos de Atención</a:t>
              </a:r>
              <a:endParaRPr b="1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3"/>
          <p:cNvSpPr/>
          <p:nvPr/>
        </p:nvSpPr>
        <p:spPr>
          <a:xfrm>
            <a:off x="5652120" y="116632"/>
            <a:ext cx="1476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AR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Fechas del Proyecto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114652" y="322475"/>
            <a:ext cx="118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AR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Inicio:</a:t>
            </a:r>
            <a:r>
              <a:rPr b="1" lang="es-AR" sz="1000">
                <a:solidFill>
                  <a:srgbClr val="1F497D"/>
                </a:solidFill>
              </a:rPr>
              <a:t> 14/4/2026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652126" y="522175"/>
            <a:ext cx="1723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AR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Fin Estimado: 24/11/2026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7375996" y="322487"/>
            <a:ext cx="1476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AR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Esperado: 20%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685000" y="492325"/>
            <a:ext cx="797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AR" sz="1000" u="none" cap="none" strike="noStrike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Real: 20%</a:t>
            </a:r>
            <a:endParaRPr b="1" i="0" sz="1000" u="none" cap="none" strike="noStrike">
              <a:solidFill>
                <a:srgbClr val="1F49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5724128" y="1412776"/>
            <a:ext cx="3168352" cy="936104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-AR" sz="1000">
                <a:solidFill>
                  <a:schemeClr val="dk1"/>
                </a:solidFill>
              </a:rPr>
              <a:t>Riesgo:</a:t>
            </a:r>
            <a:r>
              <a:rPr lang="es-AR" sz="1000">
                <a:solidFill>
                  <a:schemeClr val="dk1"/>
                </a:solidFill>
              </a:rPr>
              <a:t> Dificultad a la hora de integrar las </a:t>
            </a:r>
            <a:r>
              <a:rPr lang="es-AR" sz="1000">
                <a:solidFill>
                  <a:schemeClr val="dk1"/>
                </a:solidFill>
              </a:rPr>
              <a:t>tecnologías</a:t>
            </a:r>
            <a:r>
              <a:rPr lang="es-AR" sz="1000">
                <a:solidFill>
                  <a:schemeClr val="dk1"/>
                </a:solidFill>
              </a:rPr>
              <a:t> seleccionadas, impactando la factibilidad de cumplir con los plazos del proyecto.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-AR" sz="1000">
                <a:solidFill>
                  <a:schemeClr val="dk1"/>
                </a:solidFill>
              </a:rPr>
              <a:t>Impacto:</a:t>
            </a:r>
            <a:r>
              <a:rPr lang="es-AR" sz="1000">
                <a:solidFill>
                  <a:schemeClr val="dk1"/>
                </a:solidFill>
              </a:rPr>
              <a:t> Alto.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-AR" sz="1000">
                <a:solidFill>
                  <a:schemeClr val="dk1"/>
                </a:solidFill>
              </a:rPr>
              <a:t>Probabilidad de Ocurrencia:</a:t>
            </a:r>
            <a:r>
              <a:rPr lang="es-AR" sz="1000">
                <a:solidFill>
                  <a:schemeClr val="dk1"/>
                </a:solidFill>
              </a:rPr>
              <a:t> Bajo.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796136" y="4221088"/>
            <a:ext cx="2880320" cy="1008112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900">
                <a:solidFill>
                  <a:schemeClr val="dk1"/>
                </a:solidFill>
              </a:rPr>
              <a:t>Desarrollar un sistema inteligente de predicción de ventas para una distribuidora de productos veterinarios, a través de una aplicación web. Busca actuar como soporte para la toma de decisiones de la empresa, integrando tecnologías de vanguardia como la Inteligencia Artificial.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639420" y="5584613"/>
            <a:ext cx="3325068" cy="115675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3"/>
          <p:cNvGrpSpPr/>
          <p:nvPr/>
        </p:nvGrpSpPr>
        <p:grpSpPr>
          <a:xfrm>
            <a:off x="5639420" y="5373216"/>
            <a:ext cx="1584325" cy="217487"/>
            <a:chOff x="3809" y="2569"/>
            <a:chExt cx="998" cy="137"/>
          </a:xfrm>
        </p:grpSpPr>
        <p:sp>
          <p:nvSpPr>
            <p:cNvPr id="117" name="Google Shape;117;p3"/>
            <p:cNvSpPr/>
            <p:nvPr/>
          </p:nvSpPr>
          <p:spPr>
            <a:xfrm>
              <a:off x="3849" y="2569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solidFill>
              <a:srgbClr val="D2F705"/>
            </a:soli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3809" y="2587"/>
              <a:ext cx="958" cy="119"/>
            </a:xfrm>
            <a:prstGeom prst="wedgeRectCallout">
              <a:avLst>
                <a:gd fmla="val -20833" name="adj1"/>
                <a:gd fmla="val 79306" name="adj2"/>
              </a:avLst>
            </a:prstGeom>
            <a:gradFill>
              <a:gsLst>
                <a:gs pos="0">
                  <a:srgbClr val="333399"/>
                </a:gs>
                <a:gs pos="100000">
                  <a:srgbClr val="4070AA"/>
                </a:gs>
              </a:gsLst>
              <a:lin ang="5400000" scaled="0"/>
            </a:gradFill>
            <a:ln cap="flat" cmpd="sng" w="9525">
              <a:solidFill>
                <a:srgbClr val="4A7EBB"/>
              </a:solidFill>
              <a:prstDash val="solid"/>
              <a:miter lim="8000"/>
              <a:headEnd len="sm" w="sm" type="none"/>
              <a:tailEnd len="sm" w="sm" type="none"/>
            </a:ln>
            <a:effectLst>
              <a:outerShdw rotWithShape="0" dir="5400000" dist="23000">
                <a:srgbClr val="808080">
                  <a:alpha val="3372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s-AR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Objetivo del Producto</a:t>
              </a:r>
              <a:endParaRPr b="1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3"/>
          <p:cNvSpPr/>
          <p:nvPr/>
        </p:nvSpPr>
        <p:spPr>
          <a:xfrm>
            <a:off x="5804675" y="5661249"/>
            <a:ext cx="2880300" cy="1080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s-AR" sz="900">
                <a:solidFill>
                  <a:schemeClr val="dk1"/>
                </a:solidFill>
              </a:rPr>
              <a:t>Diseñar cuatro módulos principales para la predicción de ventas: Módulo de Ingesta y Preprocesamiento de Datos, Módulo de Inteligencia y Modelado(Core Predictivo), Módulo de Reglas de Negocio y Abastecimiento, Módulo de Interfaz y Explicabilidad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467550" y="5995840"/>
            <a:ext cx="4680600" cy="7017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s-AR" sz="1000">
                <a:solidFill>
                  <a:schemeClr val="dk1"/>
                </a:solidFill>
              </a:rPr>
              <a:t>Diseñar una arquitectura estrictamente desacoplada (APIs RESTful) para evitar bloqueos durante la integración de los módulos. 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lang="es-AR" sz="1000">
                <a:solidFill>
                  <a:schemeClr val="dk1"/>
                </a:solidFill>
              </a:rPr>
              <a:t>Operar bajo un modelo de "solo sugerencia"; el sistema no ejecutará compras automáticamente, debiendo validarse en el ERP del cliente. </a:t>
            </a:r>
            <a:br>
              <a:rPr lang="es-AR" sz="1000">
                <a:solidFill>
                  <a:schemeClr val="dk1"/>
                </a:solidFill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161" y="1066498"/>
            <a:ext cx="4214050" cy="195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15124" y="219854"/>
            <a:ext cx="27305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/>
          <p:nvPr/>
        </p:nvSpPr>
        <p:spPr>
          <a:xfrm>
            <a:off x="5741903" y="2562639"/>
            <a:ext cx="3168300" cy="936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-AR" sz="1000">
                <a:solidFill>
                  <a:schemeClr val="dk1"/>
                </a:solidFill>
              </a:rPr>
              <a:t>Riesgo:</a:t>
            </a:r>
            <a:r>
              <a:rPr lang="es-AR" sz="1000">
                <a:solidFill>
                  <a:schemeClr val="dk1"/>
                </a:solidFill>
              </a:rPr>
              <a:t> Dificultad a la hora de extraer </a:t>
            </a:r>
            <a:r>
              <a:rPr lang="es-AR" sz="1000">
                <a:solidFill>
                  <a:schemeClr val="dk1"/>
                </a:solidFill>
              </a:rPr>
              <a:t>los datos necesarios del sistema legacy del cliente, impactando la factibilidad de cumplir con los plazos del proyecto.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-AR" sz="1000">
                <a:solidFill>
                  <a:schemeClr val="dk1"/>
                </a:solidFill>
              </a:rPr>
              <a:t>Impacto:</a:t>
            </a:r>
            <a:r>
              <a:rPr lang="es-AR" sz="1000">
                <a:solidFill>
                  <a:schemeClr val="dk1"/>
                </a:solidFill>
              </a:rPr>
              <a:t> Alto.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s-AR" sz="1000">
                <a:solidFill>
                  <a:schemeClr val="dk1"/>
                </a:solidFill>
              </a:rPr>
              <a:t>Probabilidad de Ocurrencia:</a:t>
            </a:r>
            <a:r>
              <a:rPr lang="es-AR" sz="1000">
                <a:solidFill>
                  <a:schemeClr val="dk1"/>
                </a:solidFill>
              </a:rPr>
              <a:t> Medio.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39550" y="3645026"/>
            <a:ext cx="4608600" cy="1656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-"/>
            </a:pPr>
            <a:r>
              <a:rPr b="1" lang="es-AR" sz="1000">
                <a:solidFill>
                  <a:schemeClr val="dk1"/>
                </a:solidFill>
              </a:rPr>
              <a:t>Documentación</a:t>
            </a:r>
            <a:r>
              <a:rPr b="1" lang="es-AR" sz="1000">
                <a:solidFill>
                  <a:schemeClr val="dk1"/>
                </a:solidFill>
              </a:rPr>
              <a:t>: </a:t>
            </a:r>
            <a:r>
              <a:rPr lang="es-AR" sz="1000">
                <a:solidFill>
                  <a:schemeClr val="dk1"/>
                </a:solidFill>
              </a:rPr>
              <a:t>Finalizó</a:t>
            </a:r>
            <a:r>
              <a:rPr lang="es-AR" sz="1000">
                <a:solidFill>
                  <a:schemeClr val="dk1"/>
                </a:solidFill>
              </a:rPr>
              <a:t> la etapa de </a:t>
            </a:r>
            <a:r>
              <a:rPr lang="es-AR" sz="1000">
                <a:solidFill>
                  <a:schemeClr val="dk1"/>
                </a:solidFill>
              </a:rPr>
              <a:t>Planificación</a:t>
            </a:r>
            <a:r>
              <a:rPr lang="es-AR" sz="1000">
                <a:solidFill>
                  <a:schemeClr val="dk1"/>
                </a:solidFill>
              </a:rPr>
              <a:t>, actualmente se </a:t>
            </a:r>
            <a:r>
              <a:rPr lang="es-AR" sz="1000">
                <a:solidFill>
                  <a:schemeClr val="dk1"/>
                </a:solidFill>
              </a:rPr>
              <a:t>está</a:t>
            </a:r>
            <a:r>
              <a:rPr lang="es-AR" sz="1000">
                <a:solidFill>
                  <a:schemeClr val="dk1"/>
                </a:solidFill>
              </a:rPr>
              <a:t> realizando el </a:t>
            </a:r>
            <a:r>
              <a:rPr lang="es-AR" sz="1000">
                <a:solidFill>
                  <a:schemeClr val="dk1"/>
                </a:solidFill>
              </a:rPr>
              <a:t>Análisis</a:t>
            </a:r>
            <a:r>
              <a:rPr lang="es-AR" sz="1000">
                <a:solidFill>
                  <a:schemeClr val="dk1"/>
                </a:solidFill>
              </a:rPr>
              <a:t> del proyecto y diseñando los diagramas de caso de uso.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-"/>
            </a:pPr>
            <a:r>
              <a:rPr b="1" lang="es-AR" sz="1000">
                <a:solidFill>
                  <a:schemeClr val="dk1"/>
                </a:solidFill>
              </a:rPr>
              <a:t>Tecnologías</a:t>
            </a:r>
            <a:r>
              <a:rPr b="1" lang="es-AR" sz="1000">
                <a:solidFill>
                  <a:schemeClr val="dk1"/>
                </a:solidFill>
              </a:rPr>
              <a:t> seleccionadas: </a:t>
            </a:r>
            <a:r>
              <a:rPr lang="es-AR" sz="1000">
                <a:solidFill>
                  <a:schemeClr val="dk1"/>
                </a:solidFill>
              </a:rPr>
              <a:t>Se </a:t>
            </a:r>
            <a:r>
              <a:rPr lang="es-AR" sz="1000">
                <a:solidFill>
                  <a:schemeClr val="dk1"/>
                </a:solidFill>
              </a:rPr>
              <a:t>concluye</a:t>
            </a:r>
            <a:r>
              <a:rPr lang="es-AR" sz="1000">
                <a:solidFill>
                  <a:schemeClr val="dk1"/>
                </a:solidFill>
              </a:rPr>
              <a:t> que el Frontend de la </a:t>
            </a:r>
            <a:r>
              <a:rPr lang="es-AR" sz="1000">
                <a:solidFill>
                  <a:schemeClr val="dk1"/>
                </a:solidFill>
              </a:rPr>
              <a:t>aplicación</a:t>
            </a:r>
            <a:r>
              <a:rPr lang="es-AR" sz="1000">
                <a:solidFill>
                  <a:schemeClr val="dk1"/>
                </a:solidFill>
              </a:rPr>
              <a:t> </a:t>
            </a:r>
            <a:r>
              <a:rPr lang="es-AR" sz="1000">
                <a:solidFill>
                  <a:schemeClr val="dk1"/>
                </a:solidFill>
              </a:rPr>
              <a:t>será</a:t>
            </a:r>
            <a:r>
              <a:rPr lang="es-AR" sz="1000">
                <a:solidFill>
                  <a:schemeClr val="dk1"/>
                </a:solidFill>
              </a:rPr>
              <a:t> desarrollado en Flutter, PHP para el backend, Python para el LLM y PostgreSQL para la base de datos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