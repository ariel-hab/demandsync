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Barlow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7vtCgDDg4VTEWfuxsq+17Wfn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385BF3-D43D-40F5-931A-EFC8B5CDFA04}">
  <a:tblStyle styleId="{DA385BF3-D43D-40F5-931A-EFC8B5CDFA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italic.fntdata"/><Relationship Id="rId10" Type="http://schemas.openxmlformats.org/officeDocument/2006/relationships/font" Target="fonts/Barlow-bold.fntdata"/><Relationship Id="rId13" Type="http://customschemas.google.com/relationships/presentationmetadata" Target="metadata"/><Relationship Id="rId12" Type="http://schemas.openxmlformats.org/officeDocument/2006/relationships/font" Target="fonts/Barlow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Barlow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67c8ad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67c8ad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ea67c8ade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700" y="210275"/>
            <a:ext cx="8572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ea67c8ade2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900" y="224563"/>
            <a:ext cx="1019175" cy="561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g3ea67c8ade2_1_0"/>
          <p:cNvGraphicFramePr/>
          <p:nvPr/>
        </p:nvGraphicFramePr>
        <p:xfrm>
          <a:off x="1182375" y="1880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{DA385BF3-D43D-40F5-931A-EFC8B5CDFA04}</a:tableStyleId>
              </a:tblPr>
              <a:tblGrid>
                <a:gridCol w="1176025"/>
                <a:gridCol w="2117725"/>
                <a:gridCol w="2117725"/>
                <a:gridCol w="1169675"/>
              </a:tblGrid>
              <a:tr h="2159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73025" marL="730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DemandSync</a:t>
                      </a:r>
                      <a:endParaRPr b="1" sz="1000"/>
                    </a:p>
                  </a:txBody>
                  <a:tcPr marT="0" marB="0" marR="73025" marL="73025" anchor="ctr"/>
                </a:tc>
                <a:tc hMerge="1"/>
                <a:tc rowSpan="3">
                  <a:txBody>
                    <a:bodyPr/>
                    <a:lstStyle/>
                    <a:p>
                      <a:pPr indent="0" lvl="0" marL="0" marR="4318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</a:txBody>
                  <a:tcPr marT="0" marB="0" marR="73025" marL="73025" anchor="ctr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K5051 - Equipo 207</a:t>
                      </a:r>
                      <a:endParaRPr b="1" sz="1000"/>
                    </a:p>
                  </a:txBody>
                  <a:tcPr marT="0" marB="0" marR="73025" marL="73025" anchor="ctr"/>
                </a:tc>
                <a:tc hMerge="1"/>
                <a:tc vMerge="1"/>
              </a:tr>
              <a:tr h="1651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Versión 1.0</a:t>
                      </a:r>
                      <a:endParaRPr sz="1000"/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09/06</a:t>
                      </a:r>
                      <a:endParaRPr sz="1000"/>
                    </a:p>
                  </a:txBody>
                  <a:tcPr marT="0" marB="0" marR="73025" marL="73025" anchor="ctr"/>
                </a:tc>
                <a:tc vMerge="1"/>
              </a:tr>
            </a:tbl>
          </a:graphicData>
        </a:graphic>
      </p:graphicFrame>
      <p:graphicFrame>
        <p:nvGraphicFramePr>
          <p:cNvPr id="57" name="Google Shape;57;g3ea67c8ade2_1_0"/>
          <p:cNvGraphicFramePr/>
          <p:nvPr/>
        </p:nvGraphicFramePr>
        <p:xfrm>
          <a:off x="1781475" y="2045663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{DA385BF3-D43D-40F5-931A-EFC8B5CDFA04}</a:tableStyleId>
              </a:tblPr>
              <a:tblGrid>
                <a:gridCol w="1260475"/>
                <a:gridCol w="2160275"/>
                <a:gridCol w="216027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" sz="1000">
                          <a:solidFill>
                            <a:srgbClr val="FFFFFF"/>
                          </a:solidFill>
                        </a:rPr>
                        <a:t>Legajo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73025" marL="73025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" sz="1000">
                          <a:solidFill>
                            <a:srgbClr val="FFFFFF"/>
                          </a:solidFill>
                        </a:rPr>
                        <a:t>Nombre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73025" marL="73025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" sz="1000">
                          <a:solidFill>
                            <a:srgbClr val="FFFFFF"/>
                          </a:solidFill>
                        </a:rPr>
                        <a:t>E-Mail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73025" marL="73025">
                    <a:solidFill>
                      <a:srgbClr val="A6A6A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172479-4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Santiago Maffini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smaffini@frba.utn.edu.ar</a:t>
                      </a:r>
                      <a:endParaRPr sz="1000"/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203714-2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Ariel Habib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ahabib@frba.utn.edu.ar</a:t>
                      </a:r>
                      <a:endParaRPr sz="1000"/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176156-0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Alejo Gurfein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agurfein@frba.utn.edu.ar</a:t>
                      </a:r>
                      <a:endParaRPr sz="1000"/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171650-5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Dan Judzik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djudzik@frba.utn.edu.ar</a:t>
                      </a:r>
                      <a:endParaRPr sz="1000"/>
                    </a:p>
                  </a:txBody>
                  <a:tcPr marT="0" marB="0" marR="73025" marL="73025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173262-6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Ian Feldman</a:t>
                      </a:r>
                      <a:endParaRPr sz="1000"/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111125" rtl="0" algn="l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" sz="1000"/>
                        <a:t>iafeldman@frba.utn.edu.ar</a:t>
                      </a:r>
                      <a:endParaRPr sz="1000"/>
                    </a:p>
                  </a:txBody>
                  <a:tcPr marT="0" marB="0" marR="73025" marL="73025"/>
                </a:tc>
              </a:tr>
            </a:tbl>
          </a:graphicData>
        </a:graphic>
      </p:graphicFrame>
      <p:sp>
        <p:nvSpPr>
          <p:cNvPr id="58" name="Google Shape;58;g3ea67c8ade2_1_0"/>
          <p:cNvSpPr txBox="1"/>
          <p:nvPr/>
        </p:nvSpPr>
        <p:spPr>
          <a:xfrm>
            <a:off x="871075" y="996175"/>
            <a:ext cx="72822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Documento de Habilidades y Competencias</a:t>
            </a:r>
            <a:endParaRPr b="1" sz="16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i="1" lang="es" sz="1800"/>
              <a:t>PROYECTO: “DemandSync”</a:t>
            </a:r>
            <a:endParaRPr b="1" i="1" sz="18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s" sz="1600"/>
              <a:t>Integrantes – Año 2026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" name="Google Shape;59;g3ea67c8ade2_1_0"/>
          <p:cNvSpPr txBox="1"/>
          <p:nvPr/>
        </p:nvSpPr>
        <p:spPr>
          <a:xfrm>
            <a:off x="171950" y="3767925"/>
            <a:ext cx="90759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</a:rPr>
              <a:t>Profesores: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>
                <a:solidFill>
                  <a:schemeClr val="dk1"/>
                </a:solidFill>
              </a:rPr>
              <a:t>Director de Cátedra: </a:t>
            </a:r>
            <a:r>
              <a:rPr i="1" lang="es" sz="1100">
                <a:solidFill>
                  <a:schemeClr val="dk1"/>
                </a:solidFill>
              </a:rPr>
              <a:t>Mag. Ing. Gabriela Salem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>
                <a:solidFill>
                  <a:schemeClr val="dk1"/>
                </a:solidFill>
              </a:rPr>
              <a:t>Profesor a cargo del curso: </a:t>
            </a:r>
            <a:r>
              <a:rPr i="1" lang="es" sz="1100">
                <a:solidFill>
                  <a:schemeClr val="dk1"/>
                </a:solidFill>
                <a:highlight>
                  <a:schemeClr val="lt1"/>
                </a:highlight>
              </a:rPr>
              <a:t>Prof. Mg. Roberto Eribe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>
                <a:solidFill>
                  <a:schemeClr val="dk1"/>
                </a:solidFill>
              </a:rPr>
              <a:t>Profesor a cargo del proyecto: </a:t>
            </a:r>
            <a:r>
              <a:rPr i="1" lang="es" sz="1100">
                <a:solidFill>
                  <a:schemeClr val="dk1"/>
                </a:solidFill>
              </a:rPr>
              <a:t>Ing.</a:t>
            </a:r>
            <a:r>
              <a:rPr b="1" i="1" lang="es" sz="1100">
                <a:solidFill>
                  <a:schemeClr val="dk1"/>
                </a:solidFill>
              </a:rPr>
              <a:t> </a:t>
            </a:r>
            <a:r>
              <a:rPr i="1" lang="es" sz="1100">
                <a:solidFill>
                  <a:schemeClr val="dk1"/>
                </a:solidFill>
              </a:rPr>
              <a:t>Mariano Bucher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5550"/>
            <a:ext cx="914400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 txBox="1"/>
          <p:nvPr/>
        </p:nvSpPr>
        <p:spPr>
          <a:xfrm>
            <a:off x="311700" y="826625"/>
            <a:ext cx="11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855150" y="565150"/>
            <a:ext cx="1433700" cy="800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Sop</a:t>
            </a: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orte predictivo para el abastecimiento de inventario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5626875" y="637325"/>
            <a:ext cx="1433700" cy="6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Comunicación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continu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vía chat, mail y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/o</a:t>
            </a: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videollamadas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5626875" y="1294475"/>
            <a:ext cx="14337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Capacitación y documentación técnica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5839575" y="2891875"/>
            <a:ext cx="1008300" cy="554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Presentaciones comerciales y demostraciones </a:t>
            </a:r>
            <a:endParaRPr b="0" i="0" sz="8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5525300" y="2268875"/>
            <a:ext cx="936300" cy="554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Implementación directa en empresa cliente</a:t>
            </a:r>
            <a:r>
              <a:rPr b="0" i="0" lang="es" sz="8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0" i="0" sz="8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4621100" y="4113875"/>
            <a:ext cx="1433700" cy="646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Suscripción mensual por uso (SaaS escalable) 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2051625" y="2318563"/>
            <a:ext cx="1433700" cy="600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Infraestructura Tecnológica (servidores, nodos, IPFS)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2210925" y="3041125"/>
            <a:ext cx="1115400" cy="461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Know-How</a:t>
            </a: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en trazabilidad 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185100" y="4113900"/>
            <a:ext cx="1071600" cy="646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Marketing </a:t>
            </a: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 adquisición de clientes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1311800" y="4113900"/>
            <a:ext cx="11805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Desarrolladores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2547400" y="4113900"/>
            <a:ext cx="10716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Costos </a:t>
            </a: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fijos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7430250" y="1195950"/>
            <a:ext cx="1433700" cy="461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Distribuidoras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de productos veterinarios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6061286" y="4113900"/>
            <a:ext cx="1374600" cy="646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Pago </a:t>
            </a: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inicial </a:t>
            </a: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para la creación de la solución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674100" y="4113900"/>
            <a:ext cx="6543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Hosting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11700" y="1010625"/>
            <a:ext cx="1280400" cy="461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Compañías de hosting e infraestructura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839250" y="1447625"/>
            <a:ext cx="1433700" cy="646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Agilización</a:t>
            </a: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del mantenimiento del inventario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855150" y="2218525"/>
            <a:ext cx="1433700" cy="492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Mayor eficiencia en el inventario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051775" y="611075"/>
            <a:ext cx="14337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Proveedores de servicios 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de 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predicción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de stock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51625" y="1195950"/>
            <a:ext cx="14337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Soporte y seguimiento post implementación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97700" y="2268875"/>
            <a:ext cx="654300" cy="43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Aplicación web SaaS </a:t>
            </a:r>
            <a:endParaRPr b="0" i="0" sz="8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61750" y="2023850"/>
            <a:ext cx="1280400" cy="323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DFV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866100" y="2857700"/>
            <a:ext cx="1433700" cy="492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Inventario proactivo y no reactivo</a:t>
            </a:r>
            <a:endParaRPr b="0" i="0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442350" y="4016600"/>
            <a:ext cx="1502400" cy="954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Pago por implementación de mejoras post implementación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30250" y="2015038"/>
            <a:ext cx="1433700" cy="600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Empresas que utilizan ERP pero carecen de capacidades predictivas 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30250" y="2834138"/>
            <a:ext cx="1433700" cy="461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Distribuidores con alta rotación de inventario </a:t>
            </a:r>
            <a:r>
              <a:rPr lang="es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 </a:t>
            </a:r>
            <a:endParaRPr b="0" i="0" sz="9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